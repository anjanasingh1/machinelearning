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1d2c9556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1d2c9556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47495b22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47495b2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47495b22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47495b2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47495b22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47495b22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47495b22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47495b22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208a95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208a95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Machine learning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3999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FF"/>
                </a:solidFill>
              </a:rPr>
              <a:t>100 days of ML -10/12/2025</a:t>
            </a:r>
            <a:endParaRPr b="1" sz="1400">
              <a:solidFill>
                <a:srgbClr val="FF00FF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81125"/>
            <a:ext cx="3999900" cy="36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What is machine learning</a:t>
            </a:r>
            <a:r>
              <a:rPr lang="en" sz="1200">
                <a:solidFill>
                  <a:srgbClr val="FF0000"/>
                </a:solidFill>
              </a:rPr>
              <a:t> -</a:t>
            </a:r>
            <a:r>
              <a:rPr lang="en" sz="1200"/>
              <a:t> Field of computer science to give ability to machines to learn from data. Machines understands the pattern from input and output data.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Where ML is used -</a:t>
            </a:r>
            <a:r>
              <a:rPr lang="en" sz="1200"/>
              <a:t> </a:t>
            </a:r>
            <a:endParaRPr sz="12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 How to </a:t>
            </a:r>
            <a:r>
              <a:rPr lang="en" sz="1200"/>
              <a:t>identity</a:t>
            </a:r>
            <a:r>
              <a:rPr lang="en" sz="1200"/>
              <a:t> an email is scam or not. </a:t>
            </a:r>
            <a:endParaRPr sz="12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2. Image classification. </a:t>
            </a:r>
            <a:endParaRPr sz="12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 Data Analysis (know pattern in data) </a:t>
            </a:r>
            <a:endParaRPr sz="12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4. Data Mining(Create </a:t>
            </a:r>
            <a:r>
              <a:rPr lang="en" sz="1200"/>
              <a:t>prediction</a:t>
            </a:r>
            <a:r>
              <a:rPr lang="en" sz="1200"/>
              <a:t> model)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History-</a:t>
            </a:r>
            <a:r>
              <a:rPr lang="en" sz="1200"/>
              <a:t> It is in industry for 40 years.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AI/ML/DL- </a:t>
            </a:r>
            <a:endParaRPr b="1" sz="1200">
              <a:solidFill>
                <a:srgbClr val="FF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DL is subset of ML.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ML is subset of AI.</a:t>
            </a:r>
            <a:endParaRPr sz="12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ML does not have specific programming.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Symbolic AI/Expert systems- </a:t>
            </a:r>
            <a:r>
              <a:rPr lang="en" sz="1200">
                <a:solidFill>
                  <a:srgbClr val="000000"/>
                </a:solidFill>
              </a:rPr>
              <a:t>Chess by computer.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Fuzzy logic-</a:t>
            </a:r>
            <a:r>
              <a:rPr lang="en" sz="1200">
                <a:solidFill>
                  <a:schemeClr val="dk1"/>
                </a:solidFill>
              </a:rPr>
              <a:t>e.g. Dog in a picture. Symbolic AI failed in fuzzy logic.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Deep Learning- </a:t>
            </a:r>
            <a:r>
              <a:rPr lang="en" sz="1200">
                <a:solidFill>
                  <a:schemeClr val="dk1"/>
                </a:solidFill>
              </a:rPr>
              <a:t>It is ML. Algorithms are inspired by neurons. It is mathematical model. Good for fuzzy logic. DL we do no have to worry about features. As many layers of neurons we add, </a:t>
            </a:r>
            <a:r>
              <a:rPr lang="en" sz="1200">
                <a:solidFill>
                  <a:schemeClr val="dk1"/>
                </a:solidFill>
              </a:rPr>
              <a:t>prediction</a:t>
            </a:r>
            <a:r>
              <a:rPr lang="en" sz="1200">
                <a:solidFill>
                  <a:schemeClr val="dk1"/>
                </a:solidFill>
              </a:rPr>
              <a:t> becomes better.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As much data you give, performance keeps improving.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small data ML is better.</a:t>
            </a:r>
            <a:endParaRPr sz="1200"/>
          </a:p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832400" y="506875"/>
            <a:ext cx="3999900" cy="4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Type of ML: </a:t>
            </a:r>
            <a:r>
              <a:rPr lang="en" sz="1200">
                <a:solidFill>
                  <a:schemeClr val="dk1"/>
                </a:solidFill>
              </a:rPr>
              <a:t>1. </a:t>
            </a:r>
            <a:r>
              <a:rPr lang="en" sz="1200">
                <a:solidFill>
                  <a:schemeClr val="dk1"/>
                </a:solidFill>
              </a:rPr>
              <a:t>Supervised</a:t>
            </a:r>
            <a:r>
              <a:rPr lang="en" sz="1200">
                <a:solidFill>
                  <a:schemeClr val="dk1"/>
                </a:solidFill>
              </a:rPr>
              <a:t> 2. Unsupervised 3. Semi supervised 4. Re </a:t>
            </a:r>
            <a:r>
              <a:rPr lang="en" sz="1200">
                <a:solidFill>
                  <a:schemeClr val="dk1"/>
                </a:solidFill>
              </a:rPr>
              <a:t>enforcement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Supervised - </a:t>
            </a:r>
            <a:r>
              <a:rPr lang="en" sz="1200">
                <a:solidFill>
                  <a:srgbClr val="000000"/>
                </a:solidFill>
              </a:rPr>
              <a:t>Learn from Data with </a:t>
            </a:r>
            <a:r>
              <a:rPr b="1" lang="en" sz="1200">
                <a:solidFill>
                  <a:srgbClr val="000000"/>
                </a:solidFill>
              </a:rPr>
              <a:t>input and output </a:t>
            </a:r>
            <a:r>
              <a:rPr lang="en" sz="1200">
                <a:solidFill>
                  <a:srgbClr val="000000"/>
                </a:solidFill>
              </a:rPr>
              <a:t>data. Data is either numerical or categorical.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Classification - </a:t>
            </a:r>
            <a:r>
              <a:rPr lang="en">
                <a:solidFill>
                  <a:srgbClr val="000000"/>
                </a:solidFill>
              </a:rPr>
              <a:t>Data has input and output and output is </a:t>
            </a:r>
            <a:r>
              <a:rPr b="1" lang="en">
                <a:solidFill>
                  <a:srgbClr val="000000"/>
                </a:solidFill>
              </a:rPr>
              <a:t>categorical</a:t>
            </a:r>
            <a:r>
              <a:rPr lang="en">
                <a:solidFill>
                  <a:srgbClr val="000000"/>
                </a:solidFill>
              </a:rPr>
              <a:t>. It is classification problem. 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lphaLcPeriod"/>
            </a:pPr>
            <a:r>
              <a:rPr b="1" lang="en" sz="1200">
                <a:solidFill>
                  <a:srgbClr val="FF0000"/>
                </a:solidFill>
              </a:rPr>
              <a:t>Regression - </a:t>
            </a:r>
            <a:r>
              <a:rPr lang="en">
                <a:solidFill>
                  <a:srgbClr val="000000"/>
                </a:solidFill>
              </a:rPr>
              <a:t>Data has input and output and output is </a:t>
            </a:r>
            <a:r>
              <a:rPr b="1" lang="en">
                <a:solidFill>
                  <a:srgbClr val="000000"/>
                </a:solidFill>
              </a:rPr>
              <a:t>numerical </a:t>
            </a:r>
            <a:r>
              <a:rPr lang="en">
                <a:solidFill>
                  <a:srgbClr val="000000"/>
                </a:solidFill>
              </a:rPr>
              <a:t>it is Regression problem.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Unsupervised : Only input is there.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Clustering - </a:t>
            </a:r>
            <a:r>
              <a:rPr lang="en">
                <a:solidFill>
                  <a:srgbClr val="000000"/>
                </a:solidFill>
              </a:rPr>
              <a:t>Divide data in categories in N </a:t>
            </a:r>
            <a:r>
              <a:rPr lang="en">
                <a:solidFill>
                  <a:srgbClr val="000000"/>
                </a:solidFill>
              </a:rPr>
              <a:t>dimensional</a:t>
            </a:r>
            <a:r>
              <a:rPr lang="en">
                <a:solidFill>
                  <a:srgbClr val="000000"/>
                </a:solidFill>
              </a:rPr>
              <a:t> space.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Dimensionality</a:t>
            </a:r>
            <a:r>
              <a:rPr b="1" lang="en">
                <a:solidFill>
                  <a:srgbClr val="FF0000"/>
                </a:solidFill>
              </a:rPr>
              <a:t> reduction - </a:t>
            </a:r>
            <a:r>
              <a:rPr lang="en">
                <a:solidFill>
                  <a:schemeClr val="dk1"/>
                </a:solidFill>
              </a:rPr>
              <a:t>If there are many input columns, then algorithm will run small. So this will reduce input columns. Here we can create a new input column from many input column.</a:t>
            </a:r>
            <a:endParaRPr>
              <a:solidFill>
                <a:srgbClr val="FF0000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Anomaly</a:t>
            </a:r>
            <a:r>
              <a:rPr b="1" lang="en">
                <a:solidFill>
                  <a:srgbClr val="FF0000"/>
                </a:solidFill>
              </a:rPr>
              <a:t> detection:</a:t>
            </a:r>
            <a:r>
              <a:rPr lang="en">
                <a:solidFill>
                  <a:schemeClr val="dk1"/>
                </a:solidFill>
              </a:rPr>
              <a:t> Detect outliers.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lphaLcPeriod"/>
            </a:pPr>
            <a:r>
              <a:rPr b="1" lang="en">
                <a:solidFill>
                  <a:srgbClr val="FF0000"/>
                </a:solidFill>
              </a:rPr>
              <a:t>Association rule based learning: </a:t>
            </a:r>
            <a:r>
              <a:rPr lang="en">
                <a:solidFill>
                  <a:schemeClr val="dk1"/>
                </a:solidFill>
              </a:rPr>
              <a:t>How you organize a retail store.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560325"/>
            <a:ext cx="39999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Semi supervised</a:t>
            </a:r>
            <a:r>
              <a:rPr lang="en" sz="1200">
                <a:solidFill>
                  <a:srgbClr val="FF0000"/>
                </a:solidFill>
              </a:rPr>
              <a:t> -</a:t>
            </a:r>
            <a:r>
              <a:rPr lang="en" sz="1200"/>
              <a:t> Partial supervised and Partial unsupervised.Labelling is costly. E.g. Google photos.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Reinforcement</a:t>
            </a:r>
            <a:r>
              <a:rPr b="1" lang="en" sz="1200">
                <a:solidFill>
                  <a:srgbClr val="FF0000"/>
                </a:solidFill>
              </a:rPr>
              <a:t> Learning</a:t>
            </a:r>
            <a:r>
              <a:rPr lang="en" sz="1200">
                <a:solidFill>
                  <a:srgbClr val="FF0000"/>
                </a:solidFill>
              </a:rPr>
              <a:t>- </a:t>
            </a:r>
            <a:r>
              <a:rPr lang="en" sz="1200">
                <a:solidFill>
                  <a:srgbClr val="000000"/>
                </a:solidFill>
              </a:rPr>
              <a:t>No input data. Learn from experience and environment.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****************************************************************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How does ML get trained in production. 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Batch Machine Learning (Offline learning)</a:t>
            </a:r>
            <a:r>
              <a:rPr b="1" lang="en" sz="1200">
                <a:solidFill>
                  <a:schemeClr val="dk1"/>
                </a:solidFill>
              </a:rPr>
              <a:t>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All data is used at a time for training in offline system. A ready model gets into the production. There is no incremental learning. </a:t>
            </a:r>
            <a:r>
              <a:rPr b="1" lang="en" sz="1200">
                <a:solidFill>
                  <a:schemeClr val="dk1"/>
                </a:solidFill>
              </a:rPr>
              <a:t>Dis adv: </a:t>
            </a:r>
            <a:r>
              <a:rPr lang="en" sz="1200">
                <a:solidFill>
                  <a:schemeClr val="dk1"/>
                </a:solidFill>
              </a:rPr>
              <a:t>Hardware limitation and very large size of data and late availability.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Online learning:</a:t>
            </a:r>
            <a:r>
              <a:rPr lang="en" sz="1200">
                <a:solidFill>
                  <a:srgbClr val="FF0000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Incremental training of Model. Training happens on production. E.g. Chatbot (Alexa), Youtube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Concept Drift:</a:t>
            </a:r>
            <a:r>
              <a:rPr lang="en" sz="1200">
                <a:solidFill>
                  <a:schemeClr val="dk1"/>
                </a:solidFill>
              </a:rPr>
              <a:t>When concept keeps drifting and cost optimization , online learning is important.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Learning rate in online learning:</a:t>
            </a:r>
            <a:r>
              <a:rPr lang="en" sz="1200">
                <a:solidFill>
                  <a:schemeClr val="dk1"/>
                </a:solidFill>
              </a:rPr>
              <a:t> How frequent you want to train the model in online learning.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Out of core learning: </a:t>
            </a:r>
            <a:r>
              <a:rPr lang="en" sz="1200">
                <a:solidFill>
                  <a:schemeClr val="dk1"/>
                </a:solidFill>
              </a:rPr>
              <a:t>Data is so huge so that you cannot load in memory. This time, you use online learning concept instead of offline learning.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0000"/>
                </a:solidFill>
              </a:rPr>
              <a:t>Dis adv of online learning: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It is tricky and risky. You should know roll back. Online learning is more complex.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832400" y="506875"/>
            <a:ext cx="3999900" cy="47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Instance(Memory)</a:t>
            </a:r>
            <a:r>
              <a:rPr b="1" lang="en" sz="1200">
                <a:solidFill>
                  <a:srgbClr val="0000FF"/>
                </a:solidFill>
              </a:rPr>
              <a:t> based Learning Vs Model(Concept) based learning: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How does system learning. </a:t>
            </a:r>
            <a:r>
              <a:rPr b="1" lang="en" sz="1200">
                <a:solidFill>
                  <a:srgbClr val="FF0000"/>
                </a:solidFill>
              </a:rPr>
              <a:t>Memory and Concepts.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Data cleaning is done in both concepts.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761D"/>
                </a:solidFill>
              </a:rPr>
              <a:t>***************************************************************</a:t>
            </a:r>
            <a:endParaRPr b="1" sz="1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Challenges in ML projects: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Data Collection - Use API, web scraping</a:t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Insufficient/labeled data</a:t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Non representative data. 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en">
                <a:solidFill>
                  <a:srgbClr val="FF9900"/>
                </a:solidFill>
              </a:rPr>
              <a:t>Sampling Noise</a:t>
            </a:r>
            <a:r>
              <a:rPr lang="en">
                <a:solidFill>
                  <a:srgbClr val="000000"/>
                </a:solidFill>
              </a:rPr>
              <a:t>(Taking samples from one location).</a:t>
            </a:r>
            <a:r>
              <a:rPr b="1" lang="en">
                <a:solidFill>
                  <a:srgbClr val="FF0000"/>
                </a:solidFill>
              </a:rPr>
              <a:t> </a:t>
            </a:r>
            <a:endParaRPr b="1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en">
                <a:solidFill>
                  <a:srgbClr val="FF9900"/>
                </a:solidFill>
              </a:rPr>
              <a:t>Sampling Bias</a:t>
            </a:r>
            <a:r>
              <a:rPr lang="en">
                <a:solidFill>
                  <a:srgbClr val="000000"/>
                </a:solidFill>
              </a:rPr>
              <a:t>(Not taking samples from correct people)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Poor quality data</a:t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Irrelevant Features</a:t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Overfitting </a:t>
            </a:r>
            <a:r>
              <a:rPr lang="en" sz="1200">
                <a:solidFill>
                  <a:schemeClr val="dk1"/>
                </a:solidFill>
              </a:rPr>
              <a:t>(Model is good on training data but not on actual data)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Underfitting </a:t>
            </a:r>
            <a:r>
              <a:rPr b="1" lang="en" sz="1200">
                <a:solidFill>
                  <a:schemeClr val="dk1"/>
                </a:solidFill>
              </a:rPr>
              <a:t>(Model is not good on training data or actual data)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b="1" lang="en" sz="1200">
                <a:solidFill>
                  <a:srgbClr val="FF0000"/>
                </a:solidFill>
              </a:rPr>
              <a:t>Cost Involved</a:t>
            </a:r>
            <a:endParaRPr b="1"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560325"/>
            <a:ext cx="39999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Application of ML: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B2B (Business to Business):</a:t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Retail: </a:t>
            </a:r>
            <a:r>
              <a:rPr lang="en" sz="1200">
                <a:solidFill>
                  <a:schemeClr val="dk1"/>
                </a:solidFill>
              </a:rPr>
              <a:t>Amazon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Banking and Finance</a:t>
            </a:r>
            <a:r>
              <a:rPr lang="en" sz="1200">
                <a:solidFill>
                  <a:schemeClr val="dk1"/>
                </a:solidFill>
              </a:rPr>
              <a:t>: Loan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Manufacturing </a:t>
            </a:r>
            <a:r>
              <a:rPr lang="en" sz="1200">
                <a:solidFill>
                  <a:schemeClr val="dk1"/>
                </a:solidFill>
              </a:rPr>
              <a:t>Tesla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Social Media </a:t>
            </a:r>
            <a:r>
              <a:rPr lang="en" sz="1200">
                <a:solidFill>
                  <a:schemeClr val="dk1"/>
                </a:solidFill>
              </a:rPr>
              <a:t>Twitter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Transport </a:t>
            </a:r>
            <a:r>
              <a:rPr lang="en" sz="1200">
                <a:solidFill>
                  <a:schemeClr val="dk1"/>
                </a:solidFill>
              </a:rPr>
              <a:t>OLA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ML Development Life Cycle: MLDLC: </a:t>
            </a:r>
            <a:r>
              <a:rPr lang="en" sz="1200">
                <a:solidFill>
                  <a:schemeClr val="dk1"/>
                </a:solidFill>
              </a:rPr>
              <a:t>Set of guidelines to follow to make a ML based software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Set1</a:t>
            </a:r>
            <a:r>
              <a:rPr lang="en" sz="1200">
                <a:solidFill>
                  <a:schemeClr val="dk1"/>
                </a:solidFill>
              </a:rPr>
              <a:t>: Frame the problem.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Set2</a:t>
            </a:r>
            <a:r>
              <a:rPr lang="en" sz="1200">
                <a:solidFill>
                  <a:schemeClr val="dk1"/>
                </a:solidFill>
              </a:rPr>
              <a:t>: Gather the data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Set3</a:t>
            </a:r>
            <a:r>
              <a:rPr lang="en" sz="1200">
                <a:solidFill>
                  <a:schemeClr val="dk1"/>
                </a:solidFill>
              </a:rPr>
              <a:t>: Data preprocessing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Set4</a:t>
            </a:r>
            <a:r>
              <a:rPr lang="en" sz="1200">
                <a:solidFill>
                  <a:schemeClr val="dk1"/>
                </a:solidFill>
              </a:rPr>
              <a:t>: EDA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Set5</a:t>
            </a:r>
            <a:r>
              <a:rPr lang="en" sz="1200">
                <a:solidFill>
                  <a:schemeClr val="dk1"/>
                </a:solidFill>
              </a:rPr>
              <a:t>: Feature Engineering(input) and column selection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Set6</a:t>
            </a:r>
            <a:r>
              <a:rPr lang="en" sz="1200">
                <a:solidFill>
                  <a:schemeClr val="dk1"/>
                </a:solidFill>
              </a:rPr>
              <a:t>: Train the Model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Set7</a:t>
            </a:r>
            <a:r>
              <a:rPr lang="en" sz="1200">
                <a:solidFill>
                  <a:schemeClr val="dk1"/>
                </a:solidFill>
              </a:rPr>
              <a:t>: Convert it to software and Deployment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Set8: </a:t>
            </a:r>
            <a:r>
              <a:rPr lang="en" sz="1200">
                <a:solidFill>
                  <a:schemeClr val="dk1"/>
                </a:solidFill>
              </a:rPr>
              <a:t>Beta testing</a:t>
            </a:r>
            <a:r>
              <a:rPr b="1" lang="en" sz="1200">
                <a:solidFill>
                  <a:srgbClr val="0000FF"/>
                </a:solidFill>
              </a:rPr>
              <a:t>/</a:t>
            </a:r>
            <a:r>
              <a:rPr lang="en" sz="1200">
                <a:solidFill>
                  <a:schemeClr val="dk1"/>
                </a:solidFill>
              </a:rPr>
              <a:t>AB Testing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Set9: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Optimizing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27025" y="100500"/>
            <a:ext cx="3999900" cy="49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rgbClr val="FF0000"/>
                </a:solidFill>
              </a:rPr>
              <a:t># 10 Different Job Profiles: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Data Engineer:</a:t>
            </a:r>
            <a:endParaRPr b="1">
              <a:solidFill>
                <a:srgbClr val="0000FF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Bring the data (OLTP/DB and OLAP/DW)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Software developer, DS and DA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SQL and NoSQL and BigData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Cloud Platforms</a:t>
            </a:r>
            <a:endParaRPr b="1">
              <a:solidFill>
                <a:srgbClr val="0000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Data Analyst: </a:t>
            </a:r>
            <a:endParaRPr b="1" sz="1200">
              <a:solidFill>
                <a:srgbClr val="0000FF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lphaLcPeriod"/>
            </a:pPr>
            <a:r>
              <a:rPr b="1" lang="en" sz="1200">
                <a:solidFill>
                  <a:schemeClr val="dk1"/>
                </a:solidFill>
              </a:rPr>
              <a:t>Analysis </a:t>
            </a:r>
            <a:r>
              <a:rPr lang="en" sz="1200">
                <a:solidFill>
                  <a:schemeClr val="dk1"/>
                </a:solidFill>
              </a:rPr>
              <a:t>on Data</a:t>
            </a:r>
            <a:endParaRPr sz="1200"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Visualize the data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Maintain and present report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Understand stats. Python, Critical thinking.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Strong communication skill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Art of Storytelling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SQL and excel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Know the business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Data Scientist: </a:t>
            </a:r>
            <a:endParaRPr b="1" sz="1200">
              <a:solidFill>
                <a:srgbClr val="0000FF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Better at stats, Maths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Make something for future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Create Model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ML Engineer:</a:t>
            </a:r>
            <a:endParaRPr b="1" sz="1200">
              <a:solidFill>
                <a:srgbClr val="0000FF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Use the model, maintain</a:t>
            </a:r>
            <a:endParaRPr>
              <a:solidFill>
                <a:schemeClr val="dk1"/>
              </a:solidFill>
            </a:endParaRPr>
          </a:p>
          <a:p>
            <a:pPr indent="-2876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">
                <a:solidFill>
                  <a:schemeClr val="dk1"/>
                </a:solidFill>
              </a:rPr>
              <a:t>Integrate the model with software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See what company is asking and work on that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rgbClr val="0000FF"/>
                </a:solidFill>
              </a:rPr>
              <a:t>	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	</a:t>
            </a:r>
            <a:r>
              <a:rPr lang="en" sz="1200">
                <a:solidFill>
                  <a:srgbClr val="000000"/>
                </a:solidFill>
              </a:rPr>
              <a:t>	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000000"/>
                </a:solidFill>
              </a:rPr>
              <a:t>	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60325"/>
            <a:ext cx="39999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# Tensors (Data Structure)</a:t>
            </a:r>
            <a:r>
              <a:rPr b="1" lang="en" sz="1200">
                <a:solidFill>
                  <a:srgbClr val="FF0000"/>
                </a:solidFill>
              </a:rPr>
              <a:t>: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It is a container for numbers.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Vectors</a:t>
            </a:r>
            <a:r>
              <a:rPr b="1" lang="en" sz="1200">
                <a:solidFill>
                  <a:srgbClr val="0000FF"/>
                </a:solidFill>
              </a:rPr>
              <a:t> and </a:t>
            </a:r>
            <a:r>
              <a:rPr b="1" lang="en" sz="1200">
                <a:solidFill>
                  <a:srgbClr val="0000FF"/>
                </a:solidFill>
              </a:rPr>
              <a:t>metrics</a:t>
            </a:r>
            <a:r>
              <a:rPr b="1" lang="en" sz="1200">
                <a:solidFill>
                  <a:srgbClr val="0000FF"/>
                </a:solidFill>
              </a:rPr>
              <a:t> are tensors.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0 </a:t>
            </a:r>
            <a:r>
              <a:rPr b="1" lang="en" sz="1200">
                <a:solidFill>
                  <a:srgbClr val="0000FF"/>
                </a:solidFill>
              </a:rPr>
              <a:t>dimension</a:t>
            </a:r>
            <a:r>
              <a:rPr b="1" lang="en" sz="1200">
                <a:solidFill>
                  <a:srgbClr val="0000FF"/>
                </a:solidFill>
              </a:rPr>
              <a:t> is called scalers or 0 D Tensors.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Tensor and N </a:t>
            </a:r>
            <a:r>
              <a:rPr b="1" lang="en" sz="1200">
                <a:solidFill>
                  <a:srgbClr val="0000FF"/>
                </a:solidFill>
              </a:rPr>
              <a:t>dimension</a:t>
            </a:r>
            <a:r>
              <a:rPr b="1" lang="en" sz="1200">
                <a:solidFill>
                  <a:srgbClr val="0000FF"/>
                </a:solidFill>
              </a:rPr>
              <a:t> array are same.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1 D tensor is called array/Vector.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Axis means number of </a:t>
            </a:r>
            <a:r>
              <a:rPr b="1" lang="en" sz="1200">
                <a:solidFill>
                  <a:srgbClr val="0000FF"/>
                </a:solidFill>
              </a:rPr>
              <a:t>dimension=rank</a:t>
            </a:r>
            <a:r>
              <a:rPr b="1" lang="en" sz="1200">
                <a:solidFill>
                  <a:srgbClr val="0000FF"/>
                </a:solidFill>
              </a:rPr>
              <a:t>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Shape=row*column=2*3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5D Tensors examples are collection of videos. Videos are collection of frames(images).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#Tools to create ML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Select Markdown in Jupyter notebook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826975" y="712725"/>
            <a:ext cx="39999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# How to form a data science problem: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Convert the problem into a mathematical problem and talk to team.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Type of problem. -How to reduce churn rate.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Identify who is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Identify who is left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Give discount to a person who is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Identify why he is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This seems a supervised-classification problem.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The person who wants to leave, maybe someone is less interested to leave. Someone more interested to leave. Give discount as per interest.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This is not a classification problem. This is regression problem. 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Generate a score for all type of customers who are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is current solution available.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One existing current solution is to tell what will be churn next month.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was the exact factors to predict churn rate.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is the data. This is most important. What did user search. What content he left in middle. What is the recommendation.what is the browsing time.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A data engineer will give data warehouse with all above data.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Check your prediction of last months and how many actually left. Check the model accuracy.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type of training to do. Online vs Offline.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Check assumptions. If columns are available or not.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Is model universal. Will work </a:t>
            </a:r>
            <a:r>
              <a:rPr b="1" lang="en" sz="1200">
                <a:solidFill>
                  <a:srgbClr val="0000FF"/>
                </a:solidFill>
              </a:rPr>
              <a:t>across</a:t>
            </a:r>
            <a:r>
              <a:rPr b="1" lang="en" sz="1200">
                <a:solidFill>
                  <a:srgbClr val="0000FF"/>
                </a:solidFill>
              </a:rPr>
              <a:t> all geography.</a:t>
            </a:r>
            <a:endParaRPr b="1" sz="1200">
              <a:solidFill>
                <a:srgbClr val="0000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560325"/>
            <a:ext cx="39999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# Working with csv files: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Comma separated values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Tab separated values.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0 dimension is called scalers or 0 D Tensors.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Tensor and N dimension array are same.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1 D tensor is called array/Vector.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Axis means number of dimension=rank.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Shape=row*column=2*3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5D Tensors examples are collection of videos. Videos are collection of frames(images).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#Tools to create ML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Select Markdown in Jupyter notebook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# Working with JSON and SQL</a:t>
            </a:r>
            <a:endParaRPr b="1" sz="12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Use read_json</a:t>
            </a:r>
            <a:endParaRPr b="1" sz="1200">
              <a:solidFill>
                <a:srgbClr val="0000FF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b="1" lang="en" sz="1200">
                <a:solidFill>
                  <a:srgbClr val="0000FF"/>
                </a:solidFill>
              </a:rPr>
              <a:t>Use read_sql_query (not tried)</a:t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826975" y="712725"/>
            <a:ext cx="39999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# How to form a data science problem: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Convert the problem into a mathematical problem and talk to team.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Type of problem. -How to reduce churn rate.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Identify who is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Identify who is left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Give discount to a person who is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Identify why he is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This seems a supervised-classification problem.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The person who wants to leave, maybe someone is less interested to leave. Someone more interested to leave. Give discount as per interest.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This is not a classification problem. This is regression problem. 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Generate a score for all type of customers who are leaving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is current solution available.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One existing current solution is to tell what will be churn next month.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was the exact factors to predict churn rate.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is the data. This is most important. What did user search. What content he left in middle. What is the recommendation.what is the browsing time.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A data engineer will give data warehouse with all above data.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Check your prediction of last months and how many actually left. Check the model accuracy.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What type of training to do. Online vs Offline.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Check assumptions. If columns are available or not.</a:t>
            </a:r>
            <a:endParaRPr b="1" sz="1200">
              <a:solidFill>
                <a:srgbClr val="0000FF"/>
              </a:solidFill>
            </a:endParaRPr>
          </a:p>
          <a:p>
            <a:pPr indent="-2876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AutoNum type="arabicParenR"/>
            </a:pPr>
            <a:r>
              <a:rPr b="1" lang="en" sz="1200">
                <a:solidFill>
                  <a:srgbClr val="0000FF"/>
                </a:solidFill>
              </a:rPr>
              <a:t>Is model universal. Will work across all geography.</a:t>
            </a:r>
            <a:endParaRPr b="1" sz="1200">
              <a:solidFill>
                <a:srgbClr val="0000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